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376c2ae2f4945" /><Relationship Type="http://schemas.openxmlformats.org/officeDocument/2006/relationships/extended-properties" Target="/docProps/app.xml" Id="R114f62b6abb64f41" /><Relationship Type="http://schemas.openxmlformats.org/officeDocument/2006/relationships/officeDocument" Target="/ppt/presentation.xml" Id="Rfeabb4e4d5e5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9af10ab367422b"/>
  </p:sldMasterIdLst>
  <p:notesMasterIdLst>
    <p:notesMasterId xmlns:r="http://schemas.openxmlformats.org/officeDocument/2006/relationships" r:id="R5dafc5561b534452"/>
  </p:notesMasterIdLst>
  <p:sldIdLst>
    <p:sldId xmlns:r="http://schemas.openxmlformats.org/officeDocument/2006/relationships" id="256" r:id="R102ba95bf7b74fda"/>
    <p:sldId xmlns:r="http://schemas.openxmlformats.org/officeDocument/2006/relationships" id="257" r:id="R850c1f97f89a4229"/>
    <p:sldId xmlns:r="http://schemas.openxmlformats.org/officeDocument/2006/relationships" id="258" r:id="Rec715870b70e4d2a"/>
    <p:sldId xmlns:r="http://schemas.openxmlformats.org/officeDocument/2006/relationships" id="259" r:id="Rdc4cdbfca76a434a"/>
    <p:sldId xmlns:r="http://schemas.openxmlformats.org/officeDocument/2006/relationships" id="260" r:id="R9e66030222374700"/>
    <p:sldId xmlns:r="http://schemas.openxmlformats.org/officeDocument/2006/relationships" id="261" r:id="R8aeeb67fad394114"/>
    <p:sldId xmlns:r="http://schemas.openxmlformats.org/officeDocument/2006/relationships" id="262" r:id="Rf7685d0fabb64cb0"/>
    <p:sldId xmlns:r="http://schemas.openxmlformats.org/officeDocument/2006/relationships" id="263" r:id="R150c2c9b144441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7a29a0518496c" /><Relationship Type="http://schemas.openxmlformats.org/officeDocument/2006/relationships/slideMaster" Target="/ppt/slideMasters/slideMaster1.xml" Id="Rf19af10ab367422b" /><Relationship Type="http://schemas.openxmlformats.org/officeDocument/2006/relationships/notesMaster" Target="/ppt/notesMasters/notesMaster1.xml" Id="R5dafc5561b534452" /><Relationship Type="http://schemas.openxmlformats.org/officeDocument/2006/relationships/presProps" Target="/ppt/presProps.xml" Id="R67735dc966a1498a" /><Relationship Type="http://schemas.openxmlformats.org/officeDocument/2006/relationships/tableStyles" Target="/ppt/tableStyles.xml" Id="R649dca105bd9463b" /><Relationship Type="http://schemas.openxmlformats.org/officeDocument/2006/relationships/slide" Target="/ppt/slides/slide1.xml" Id="R102ba95bf7b74fda" /><Relationship Type="http://schemas.openxmlformats.org/officeDocument/2006/relationships/slide" Target="/ppt/slides/slide2.xml" Id="R850c1f97f89a4229" /><Relationship Type="http://schemas.openxmlformats.org/officeDocument/2006/relationships/slide" Target="/ppt/slides/slide3.xml" Id="Rec715870b70e4d2a" /><Relationship Type="http://schemas.openxmlformats.org/officeDocument/2006/relationships/slide" Target="/ppt/slides/slide4.xml" Id="Rdc4cdbfca76a434a" /><Relationship Type="http://schemas.openxmlformats.org/officeDocument/2006/relationships/slide" Target="/ppt/slides/slide5.xml" Id="R9e66030222374700" /><Relationship Type="http://schemas.openxmlformats.org/officeDocument/2006/relationships/slide" Target="/ppt/slides/slide6.xml" Id="R8aeeb67fad394114" /><Relationship Type="http://schemas.openxmlformats.org/officeDocument/2006/relationships/slide" Target="/ppt/slides/slide7.xml" Id="Rf7685d0fabb64cb0" /><Relationship Type="http://schemas.openxmlformats.org/officeDocument/2006/relationships/slide" Target="/ppt/slides/slide8.xml" Id="R150c2c9b144441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f35d2a1f542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71f27d61f4028" /><Relationship Type="http://schemas.openxmlformats.org/officeDocument/2006/relationships/notesMaster" Target="/ppt/notesMasters/notesMaster1.xml" Id="Rfc575ec86219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da2c0e6b14587" /><Relationship Type="http://schemas.openxmlformats.org/officeDocument/2006/relationships/notesMaster" Target="/ppt/notesMasters/notesMaster1.xml" Id="R12f486da38d7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79e395dbeb41d2" /><Relationship Type="http://schemas.openxmlformats.org/officeDocument/2006/relationships/notesMaster" Target="/ppt/notesMasters/notesMaster1.xml" Id="Rd8c92a4aec65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e2aa687d9b4f2f" /><Relationship Type="http://schemas.openxmlformats.org/officeDocument/2006/relationships/notesMaster" Target="/ppt/notesMasters/notesMaster1.xml" Id="Rf4f7ad048dbe4f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0a0721e6f54b82" /><Relationship Type="http://schemas.openxmlformats.org/officeDocument/2006/relationships/notesMaster" Target="/ppt/notesMasters/notesMaster1.xml" Id="R9c1e4e460d84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9f2fd4c3348ef" /><Relationship Type="http://schemas.openxmlformats.org/officeDocument/2006/relationships/notesMaster" Target="/ppt/notesMasters/notesMaster1.xml" Id="Rbb68dfadd1994c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0cc7764aaa4f89" /><Relationship Type="http://schemas.openxmlformats.org/officeDocument/2006/relationships/notesMaster" Target="/ppt/notesMasters/notesMaster1.xml" Id="Re42aa2c1b8354e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448800a4bd4b2d" /><Relationship Type="http://schemas.openxmlformats.org/officeDocument/2006/relationships/notesMaster" Target="/ppt/notesMasters/notesMaster1.xml" Id="R86aa4fc6df75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说明：本页流程由用户提供的五点内容归纳。</a:t>
            </a:r>
          </a:p>
          <a:p xmlns:a="http://schemas.openxmlformats.org/drawingml/2006/main">
            <a:r>
              <a:t>合规参考：中国政府网《工业和信息化部关于开展移动互联网应用程序备案工作的通知》 https://www.gov.cn/zhengce/zhengceku/202308/content_6897341.htm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备案依据：中国政府网《工业和信息化部关于开展移动互联网应用程序备案工作的通知》 https://www.gov.cn/zhengce/zhengceku/202308/content_6897341.htm</a:t>
            </a:r>
          </a:p>
          <a:p xmlns:a="http://schemas.openxmlformats.org/drawingml/2006/main">
            <a:r>
              <a:t>类目参考：腾讯云文档提示服务类目应符合实际应用场景，部分行业需要对应资质。 https://cloud.tencent.com/document/product/1078/43316/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CloudBase 官方定价页面：免费环境 ¥0/月，每个云开发账号可创建 1 个免费环境，每月 3,000 资源点，单次续期 6 个月；个人版当前显示 ¥19.9/月限时优惠，每月 40,000 资源点。 https://cloudbase.cloud.tencent.com/pricing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CodeBuddy 官方产品说明：支持从需求、设计、编码到部署的开发流程，并提供跨文件生成、调试与 CloudBase 集成。 https://www.codebuddy.ai/docs/zh/ide/Introduction</a:t>
            </a:r>
          </a:p>
          <a:p xmlns:a="http://schemas.openxmlformats.org/drawingml/2006/main">
            <a:r>
              <a:t>CloudBase 集成说明：CodeBuddy 可连接数据库、登录认证、云函数和云存储。 https://www.codebuddy.ai/docs/zh/ide/User-guide/Integration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6d16cdd2f47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29f95183e44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e5b53b8794d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69746a85b4d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e6882970b43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9d313d768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49A000-C679-47F4-AB71-60E32E075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E2A5B3-D905-4742-A930-E6947CC324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ACBBD7-66A6-4DBC-BF4D-341C7B7E4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09E05-22CB-483D-AA3E-2A411F286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7E2F2F-47FF-47DD-B5F6-A59BB76BE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BFFC73-34D3-495E-AA94-E2A57A43F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F7B6FC-47AE-4619-B606-09CFD48405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0F3ED3-68B7-4F3C-942A-AB25EB9EFB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572C2A-4634-4769-916E-7BC844FCC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C44BE0-E7C3-43BE-BDAC-F729CE536C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0982da8524643" /><Relationship Type="http://schemas.openxmlformats.org/officeDocument/2006/relationships/slideLayout" Target="/ppt/slideLayouts/slideLayout1.xml" Id="R7d0d773b67a242df" /><Relationship Type="http://schemas.openxmlformats.org/officeDocument/2006/relationships/slideLayout" Target="/ppt/slideLayouts/slideLayout2.xml" Id="R50ae0deb1c804a9f" /><Relationship Type="http://schemas.openxmlformats.org/officeDocument/2006/relationships/slideLayout" Target="/ppt/slideLayouts/slideLayout3.xml" Id="R75fdd80a8d3146a9" /><Relationship Type="http://schemas.openxmlformats.org/officeDocument/2006/relationships/slideLayout" Target="/ppt/slideLayouts/slideLayout4.xml" Id="Rd88dce7d40a0461b" /><Relationship Type="http://schemas.openxmlformats.org/officeDocument/2006/relationships/slideLayout" Target="/ppt/slideLayouts/slideLayout5.xml" Id="R21efd17f3d0d41b9" /><Relationship Type="http://schemas.openxmlformats.org/officeDocument/2006/relationships/slideLayout" Target="/ppt/slideLayouts/slideLayout6.xml" Id="R8059442b8f65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d773b67a242df"/>
    <p:sldLayoutId xmlns:r="http://schemas.openxmlformats.org/officeDocument/2006/relationships" id="2147483650" r:id="R50ae0deb1c804a9f"/>
    <p:sldLayoutId xmlns:r="http://schemas.openxmlformats.org/officeDocument/2006/relationships" id="2147483651" r:id="R75fdd80a8d3146a9"/>
    <p:sldLayoutId xmlns:r="http://schemas.openxmlformats.org/officeDocument/2006/relationships" id="2147483652" r:id="Rd88dce7d40a0461b"/>
    <p:sldLayoutId xmlns:r="http://schemas.openxmlformats.org/officeDocument/2006/relationships" id="2147483653" r:id="R21efd17f3d0d41b9"/>
    <p:sldLayoutId xmlns:r="http://schemas.openxmlformats.org/officeDocument/2006/relationships" id="2147483654" r:id="R8059442b8f65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1faddc7b54b21" /><Relationship Type="http://schemas.openxmlformats.org/officeDocument/2006/relationships/image" Target="/ppt/media/image.png" Id="Rcc62adfc3fa542d9" /><Relationship Type="http://schemas.openxmlformats.org/officeDocument/2006/relationships/notesSlide" Target="/ppt/notesSlides/notesSlide1.xml" Id="Rf9b0114ba137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fbc54c5ab477e" /><Relationship Type="http://schemas.openxmlformats.org/officeDocument/2006/relationships/notesSlide" Target="/ppt/notesSlides/notesSlide2.xml" Id="Rb224384b5845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9b55221e84693" /><Relationship Type="http://schemas.openxmlformats.org/officeDocument/2006/relationships/notesSlide" Target="/ppt/notesSlides/notesSlide3.xml" Id="R8424686b5d99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029a17a3240ab" /><Relationship Type="http://schemas.openxmlformats.org/officeDocument/2006/relationships/notesSlide" Target="/ppt/notesSlides/notesSlide4.xml" Id="Rc18ba87d34d7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7fbc32e8f4dff" /><Relationship Type="http://schemas.openxmlformats.org/officeDocument/2006/relationships/notesSlide" Target="/ppt/notesSlides/notesSlide5.xml" Id="Rd98e155029e44a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c7a1e5e98456f" /><Relationship Type="http://schemas.openxmlformats.org/officeDocument/2006/relationships/notesSlide" Target="/ppt/notesSlides/notesSlide6.xml" Id="Rde661fb6935542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7879620d94a6e" /><Relationship Type="http://schemas.openxmlformats.org/officeDocument/2006/relationships/notesSlide" Target="/ppt/notesSlides/notesSlide7.xml" Id="R3a689832c4a9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70124f97f40e6" /><Relationship Type="http://schemas.openxmlformats.org/officeDocument/2006/relationships/notesSlide" Target="/ppt/notesSlides/notesSlide8.xml" Id="R9d0c559ceced4d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6ACB8-0944-45FA-A137-875113B6E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2adfc3fa542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66927-3A6C-4733-B601-147066A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一天做出自己的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微信小程序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D455B-4942-4527-BBF8-2E9C09F0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8FF0B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FF0B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8FF0B5"/>
                </a:solidFill>
                <a:latin typeface="Noto Sans SC"/>
                <a:ea typeface="Noto Sans SC"/>
                <a:cs typeface="Noto Sans SC"/>
              </a:rPr>
              <a:t>AI + 云开发极速版流程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A4DD9-17BA-4311-AB85-3F7419A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>
                <a:solidFill>
                  <a:srgbClr val="D6E6E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D6E6E9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D6E6E9"/>
                </a:solidFill>
                <a:latin typeface="Noto Sans SC"/>
                <a:ea typeface="Noto Sans SC"/>
                <a:cs typeface="Noto Sans SC"/>
              </a:rPr>
              <a:t>从账号准备、云环境到 CodeBuddy 协作开发与交付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EA77F-C227-4802-BC65-E40E385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00">
                <a:solidFill>
                  <a:srgbClr val="AAC4C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AAC4C8"/>
                </a:solidFill>
                <a:latin typeface="Noto Sans SC"/>
                <a:ea typeface="Noto Sans SC"/>
                <a:cs typeface="Noto Sans SC"/>
              </a:defRPr>
            </a:pPr>
            <a:r>
              <a:rPr sz="1200">
                <a:solidFill>
                  <a:srgbClr val="AAC4C8"/>
                </a:solidFill>
                <a:latin typeface="Noto Sans SC"/>
                <a:ea typeface="Noto Sans SC"/>
                <a:cs typeface="Noto Sans SC"/>
              </a:rPr>
              <a:t>极速版 · MVP 路线</a:t>
            </a:r>
          </a:p>
        </p:txBody>
      </p:sp>
    </p:spTree>
    <p:extLst>
      <p:ext uri="{BB962C8B-B14F-4D97-AF65-F5344CB8AC3E}">
        <p14:creationId xmlns:p14="http://schemas.microsoft.com/office/powerpoint/2010/main" val="779347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2400E-183D-4AEF-B3F1-E5F06104F3B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258300" y="3381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C160"/>
            </a:solidFill>
            <a:prstDash val="solid"/>
            <a:tail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0323A-A02D-48B5-BF86-12FC82129B0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48500" y="3381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C160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1F853-1551-4FAD-B808-EAEEB7F1F61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38700" y="3381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C160"/>
            </a:solidFill>
            <a:prstDash val="solid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D7D82-65DC-4ECD-BAB9-E27E315E38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28900" y="3381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C160"/>
            </a:solidFill>
            <a:prstDash val="solid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3525B-B85F-4403-8C86-2C2C6FD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极速版全流程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67B1F-E3AD-4452-A475-535BA7C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一条主线贯穿账号、云资源、开发、联调与发布准备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C9FCB-03F3-464B-9E95-009BF047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E9400-C59D-44FF-A37E-2E618D81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D4590647-47D9-45C1-A444-E5AF791E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885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507FB-D02B-4338-9FF9-CB58561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账号准备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31406-05A1-4E8B-90BD-C2C28EAE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主体、名称、类目</a:t>
            </a:r>
          </a:p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备案与认证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F6F5D-C39C-40C5-99AE-000BC73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95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BBBC0F6C-FA47-4B40-A4BE-BB6A4871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1885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16244-F2D0-4BB7-A6B6-F4DA7BB4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14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创建云环境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61979-728E-49B3-9C7E-C949151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09925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CloudBase 数据库</a:t>
            </a:r>
          </a:p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存储与云函数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6E333-B21B-459C-9162-E4337F89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95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600EB633-AD99-4911-932E-7083BD0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43175"/>
            <a:ext cx="1885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C026-D952-44A0-A7D6-73CF476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14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AI 协作开发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4F360-DFC2-4A10-8B88-6042588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开发者工具 +</a:t>
            </a:r>
          </a:p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CodeBuddy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62ADF-143D-46F0-8C80-D66DDAF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95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B9B2155B-B5DC-4D71-BECC-32DA78A1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43175"/>
            <a:ext cx="1885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E494D-B2A1-4549-8950-CEEC430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统一项目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A98CA-FD92-43CE-B137-6E185CEC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9925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小程序、云函数</a:t>
            </a:r>
          </a:p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管理端同仓维护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18CF7-7D68-49F3-A575-142A057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954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1" name="step-5">
            <a:extLst xmlns:a="http://schemas.openxmlformats.org/drawingml/2006/main">
              <a:ext uri="{FF2B5EF4-FFF2-40B4-BE49-F238E27FC236}">
                <a16:creationId xmlns:a16="http://schemas.microsoft.com/office/drawing/2014/main" id="{34B90238-5D95-43CC-97ED-1275D72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43175"/>
            <a:ext cx="1885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31D71-7093-41CC-ADA0-26C2630D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14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联调与交付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E2917-12B7-495C-966E-B7412D9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9925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真机测试、权限</a:t>
            </a:r>
          </a:p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审核材料准备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F722A-CCAD-4397-975D-529B86E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9141A-C245-4A59-A1D2-257E6124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rPr>
              <a:t>关键边界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EECC2-F3D3-4A0B-9DA7-8FF452F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435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“一天完成”指 MVP 开发与联调。账号认证、备案和平台审核需提前准备并预留时间。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E6035E-C48D-4BAF-89DC-213484E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3735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204DC-03AA-4335-9B57-E6A87C39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一天可交付的范围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42A7D-DDD9-48B4-B557-D713B17F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前置条件齐备时，目标应聚焦可演示、可联调的最小可用版本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1FDED-62AF-423A-AEE2-C9393420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BC76D-E33F-4244-B93C-30EA274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6150" b="1">
                <a:solidFill>
                  <a:srgbClr val="07C16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07C160"/>
                </a:solidFill>
                <a:latin typeface="Noto Sans SC"/>
                <a:ea typeface="Noto Sans SC"/>
                <a:cs typeface="Noto Sans SC"/>
              </a:defRPr>
            </a:pPr>
            <a:r>
              <a:rPr sz="6150" b="1">
                <a:solidFill>
                  <a:srgbClr val="07C160"/>
                </a:solidFill>
                <a:latin typeface="Noto Sans SC"/>
                <a:ea typeface="Noto Sans SC"/>
                <a:cs typeface="Noto Sans SC"/>
              </a:rPr>
              <a:t>1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E079C-54A3-4303-BC47-E5DE038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完成一个闭环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FAB2B-C938-4191-B11F-C42364A5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用户能进入、完成核心操作，数据能写入云端，管理员能在本地查看。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318F8-E255-4694-B75E-FF7BD4FA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D2BD5-E8E7-4A54-8DE7-0D78EC99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430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建议纳入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D7D92-D5B5-4C5B-9733-AD1C00F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58102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rPr>
              <a:t>1 条核心用户路径，页面数量保持克制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rPr>
              <a:t>云数据库与必要的云存储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rPr>
              <a:t>1～2 个承担业务规则的云函数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rPr>
              <a:t>本地管理端，用于查看或维护数据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10212A"/>
                </a:solidFill>
                <a:latin typeface="Noto Sans SC"/>
                <a:ea typeface="Noto Sans SC"/>
                <a:cs typeface="Noto Sans SC"/>
              </a:rPr>
              <a:t>真机预览、异常提示与基础权限检查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41152-9BBB-4952-B17F-F6952C1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94DC-4DD7-471C-BE94-0F10BD5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rPr>
              <a:t>不纳入一天承诺：备案审批、认证结果、复杂支付、重度运营后台与大规模安全压测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98A76-39C9-4241-A2D4-5229E12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9201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EC9AA-9C42-4681-BA21-1C8E8647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账号与合规准备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4F9B9-4039-495A-880D-C53F2BE7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这部分决定小程序能否提交审核，宜在开发日前完成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8CE58-1C2C-4DAA-9BE2-94F1B14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80D27-4C0A-49D8-8DE3-DCB393B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65190-FB4A-445B-B450-16A7008B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要做什么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607EE-EA97-41AC-A464-27B2533B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为什么要提前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D9A91-9255-4049-8D18-0537C83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EF4D6-D053-4DA7-858B-873F2189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主体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255AF-AB24-43DA-AF70-1FE4C2B7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个人、企业或其他组织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39BB5-57C5-46D6-BC95-3468C912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影响可选类目与能力边界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3130E-6E6D-4F43-81E5-4473B482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0AFF7-6FD1-4106-9C7A-F456CEE6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名称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C81D3-EA22-480B-A275-F5C059F5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提前准备候选名称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00141-FFCF-4BD4-832E-9B71379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622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避免临近发布才处理占用问题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B17A6-F4C3-4194-B065-FF804CF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044DD-FC2A-403A-A4AA-1F1A5B8C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服务类目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68378-29A6-4CF9-B29F-9227D1D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与实际功能保持一致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E9C37-C9A7-497E-8A45-62E56139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部分类目需要额外资质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D55A9-BE71-4425-BB47-36AD2722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8A0F2-7A1F-4087-BB99-3020534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rPr>
              <a:t>备案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10305-F1DE-445B-AE4D-01B03EAC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529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按平台流程提交材料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C8C79-2A34-4530-B77C-1319283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审批时间不计入一天开发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E06AA-AE64-45D4-BF36-7BE3F6AD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650EC-F909-407F-A89D-CAE012A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123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认证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1D32E-C865-406E-85B5-38ECF65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按主体和功能需求办理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1F2CD-BF5A-4C0A-ABA7-8913EFF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支付等能力可能另有门槛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C6F39-DF4E-42C8-9BD2-329D1E6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原则：所选类目应与实际业务场景一致，具体材料与开放能力以微信公众平台最新要求为准。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71BEE-6E08-4C70-8263-AB4EF3C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1124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DC04D-739D-45C2-9D78-8D0DB87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云开发环境与成本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BCBC6-734E-4907-BA12-F318F7C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A9C8C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A9C8CC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A9C8CC"/>
                </a:solidFill>
                <a:latin typeface="Noto Sans SC"/>
                <a:ea typeface="Noto Sans SC"/>
                <a:cs typeface="Noto Sans SC"/>
              </a:rPr>
              <a:t>用托管能力代替自建服务器，把时间留给产品功能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78B32-1417-4130-9A0B-DEC3CD9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D394-277B-4515-A9BC-3CB998B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5700" b="1">
                <a:solidFill>
                  <a:srgbClr val="79E9A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79E9A7"/>
                </a:solidFill>
                <a:latin typeface="Noto Sans SC"/>
                <a:ea typeface="Noto Sans SC"/>
                <a:cs typeface="Noto Sans SC"/>
              </a:defRPr>
            </a:pPr>
            <a:r>
              <a:rPr sz="5700" b="1">
                <a:solidFill>
                  <a:srgbClr val="79E9A7"/>
                </a:solidFill>
                <a:latin typeface="Noto Sans SC"/>
                <a:ea typeface="Noto Sans SC"/>
                <a:cs typeface="Noto Sans SC"/>
              </a:rPr>
              <a:t>¥0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707F-AE1B-4A50-9ABF-4328E32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免费环境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06F8B-733F-4D91-9E6F-8F53604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每个云开发账号可创建 1 个免费环境</a:t>
            </a:r>
          </a:p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每月 3,000 资源点</a:t>
            </a:r>
          </a:p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按规则可每次续期 6 个月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96D13-8FAA-4088-B0D0-5A5BA0E7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383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13E5C-4D0D-47EA-A242-389DE84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¥19.9/月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DE68F-462C-4BC3-A007-372EFF5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79E9A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E9A7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79E9A7"/>
                </a:solidFill>
                <a:latin typeface="Noto Sans SC"/>
                <a:ea typeface="Noto Sans SC"/>
                <a:cs typeface="Noto Sans SC"/>
              </a:rPr>
              <a:t>个人版当前限时优惠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F7F01-655E-4C52-A61B-C78547F3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适合独立开发者和小型线上项目</a:t>
            </a:r>
          </a:p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每月 40,000 资源点</a:t>
            </a:r>
          </a:p>
          <a:p xmlns:a="http://schemas.openxmlformats.org/drawingml/2006/main">
            <a:pPr>
              <a:def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D3E5E7"/>
                </a:solidFill>
                <a:latin typeface="Noto Sans SC"/>
                <a:ea typeface="Noto Sans SC"/>
                <a:cs typeface="Noto Sans SC"/>
              </a:rPr>
              <a:t>支持资源包与超限按量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D9CE3-DA8D-4F92-9240-F6D0CD8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2457450" cy="3219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3B4B"/>
          </a:solidFill>
          <a:ln xmlns:a="http://schemas.openxmlformats.org/drawingml/2006/main" w="9525">
            <a:solidFill>
              <a:srgbClr val="2B5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DAE91-11B3-41FE-9966-4DA183C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开通后先配置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E4762-9C32-4C4F-B596-A4D0BBE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marL="177800" indent="-88900">
              <a:spcAft>
                <a:spcPts val="1200"/>
              </a:spcAft>
              <a:buChar char="•"/>
              <a:def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rPr>
              <a:t>数据库集合与权限</a:t>
            </a:r>
          </a:p>
          <a:p xmlns:a="http://schemas.openxmlformats.org/drawingml/2006/main">
            <a:pPr marL="177800" indent="-88900">
              <a:spcAft>
                <a:spcPts val="1200"/>
              </a:spcAft>
              <a:buChar char="•"/>
              <a:def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rPr>
              <a:t>云存储目录</a:t>
            </a:r>
          </a:p>
          <a:p xmlns:a="http://schemas.openxmlformats.org/drawingml/2006/main">
            <a:pPr marL="177800" indent="-88900">
              <a:spcAft>
                <a:spcPts val="1200"/>
              </a:spcAft>
              <a:buChar char="•"/>
              <a:def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rPr>
              <a:t>云函数与环境变量</a:t>
            </a:r>
          </a:p>
          <a:p xmlns:a="http://schemas.openxmlformats.org/drawingml/2006/main">
            <a:pPr marL="177800" indent="-88900">
              <a:spcAft>
                <a:spcPts val="1200"/>
              </a:spcAft>
              <a:buChar char="•"/>
              <a:def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D7EAEC"/>
                </a:solidFill>
                <a:latin typeface="Noto Sans SC"/>
                <a:ea typeface="Noto Sans SC"/>
                <a:cs typeface="Noto Sans SC"/>
              </a:rPr>
              <a:t>开发、测试环境边界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10FCE-0A2F-48A8-A8C6-218BBF00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275">
                <a:solidFill>
                  <a:srgbClr val="8EB0B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>
                <a:solidFill>
                  <a:srgbClr val="8EB0B5"/>
                </a:solidFill>
                <a:latin typeface="Noto Sans SC"/>
                <a:ea typeface="Noto Sans SC"/>
                <a:cs typeface="Noto Sans SC"/>
              </a:defRPr>
            </a:pPr>
            <a:r>
              <a:rPr sz="1275">
                <a:solidFill>
                  <a:srgbClr val="8EB0B5"/>
                </a:solidFill>
                <a:latin typeface="Noto Sans SC"/>
                <a:ea typeface="Noto Sans SC"/>
                <a:cs typeface="Noto Sans SC"/>
              </a:rPr>
              <a:t>价格与权益截至 2026-10-13，后续以腾讯云官方页面为准。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9D4BF-A388-401D-B196-843BA3E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B7D6D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D6D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7D6D2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7797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D9E6E-2DC1-44A4-97A5-1C129D0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CodeBuddy 协作开发日程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DEED3-F387-4697-8373-50D2E018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推荐节奏：让 AI 负责搭建、改动与排错，人负责需求边界和验收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BA106-BBC4-4ABE-BAD1-CD76372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2AF0D-1D3D-456F-B5B8-0806A612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7E9BB-E53E-4D70-9ED6-12E1D617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E91A4-B4E7-46B8-B52C-3CCE111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09:00–11:00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467EC-1B3E-492D-9E1B-94B3472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需求与骨架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313D5-E882-4412-BC2A-ADD9AEE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5762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确定核心流程、页面清单、数据模型和项目目录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8C2B8-6A48-468E-BEF2-EB50A59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C4005-FCA1-4EAB-B11F-18A29D2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240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11:00–14:00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37A4-85A0-4A76-8664-66A745F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页面与云数据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EBF26-951C-4754-96FE-CF91599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5762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生成页面结构，接入数据库、存储和基础登录态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68C67-E000-408A-A7D4-73DE1EC0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9E859-A4CF-4481-90BA-5D78D918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14:00–17:00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E6852-8C2D-4997-8535-BB2668E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云函数与管理端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76667-D63F-48D8-9E70-BC026AA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补业务规则、权限校验，完成本地管理平台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71A4-9BF1-4A67-BBD4-37FBC9E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47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B3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4A80C-7C78-4527-823C-30F0947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17:00–20:00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54834-455C-4811-8738-5E9C5B4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联调与收口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87206-5655-48E3-8055-0C60706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425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真机测试、修复异常，整理配置和发布检查项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1F6A4-B17C-4CFA-8E18-2752CA49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325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35C0C-E177-49CD-9AD4-8FAB9172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高效协作方式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A435B-57DF-4971-A3DF-57A516C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43550"/>
            <a:ext cx="786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每次只交给 AI 一个明确任务，并附验收标准。完成后立即预览与测试，再进入下一项。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5E424-2954-4928-AD12-0E97E21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2623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225EC-C2E0-4536-991A-B8993C188C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200400" y="3590925"/>
            <a:ext cx="1524000" cy="1628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9EA4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E24C3-6473-47EC-880A-C97AA877D14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0400" y="3590925"/>
            <a:ext cx="15240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9EA4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C7951-3284-435D-A3B0-D9118CA07A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00400" y="2343150"/>
            <a:ext cx="1524000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9EA4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AC0E0-B9A7-4794-A41A-4DCBDE5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一个总项目，三类交付物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85900-B986-4A65-9E6F-59593135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代码、配置与文档保持同一版本，减少联调时的环境错配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9DCDF-6B6E-4F5B-A42C-F0DAFD76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501F8F9A-44C8-4466-B295-0F4EFE67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4F7FE-C6D9-4D97-9D71-C12D049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总项目仓库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8877-3715-4996-B5E5-1863F34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857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rPr>
              <a:t>统一版本</a:t>
            </a:r>
          </a:p>
          <a:p xmlns:a="http://schemas.openxmlformats.org/drawingml/2006/main">
            <a:pPr algn="ctr">
              <a:def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rPr>
              <a:t>统一环境说明</a:t>
            </a:r>
          </a:p>
          <a:p xmlns:a="http://schemas.openxmlformats.org/drawingml/2006/main">
            <a:pPr algn="ctr">
              <a:def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defRPr>
            </a:pPr>
            <a:r>
              <a:rPr sz="1725">
                <a:solidFill>
                  <a:srgbClr val="CDE4E6"/>
                </a:solidFill>
                <a:latin typeface="Noto Sans SC"/>
                <a:ea typeface="Noto Sans SC"/>
                <a:cs typeface="Noto Sans SC"/>
              </a:rPr>
              <a:t>统一交付清单</a:t>
            </a:r>
          </a:p>
        </p:txBody>
      </p:sp>
      <p:sp>
        <p:nvSpPr>
          <p:cNvPr id="7" name="artifact-1">
            <a:extLst xmlns:a="http://schemas.openxmlformats.org/drawingml/2006/main">
              <a:ext uri="{FF2B5EF4-FFF2-40B4-BE49-F238E27FC236}">
                <a16:creationId xmlns:a16="http://schemas.microsoft.com/office/drawing/2014/main" id="{12BB9879-47CD-4A89-815A-9FC14D6D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628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1E1C1-9D46-4B15-B75E-4CE7750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114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13022-6F82-482D-AED9-5133F5A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52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miniprogram/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1A8DC-7A6B-460A-9EB0-BB09C9C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小程序页面与组件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908CE-8DD5-4442-9009-B1510D48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上传至微信开发者工具</a:t>
            </a:r>
          </a:p>
        </p:txBody>
      </p:sp>
      <p:sp>
        <p:nvSpPr>
          <p:cNvPr id="12" name="artifact-2">
            <a:extLst xmlns:a="http://schemas.openxmlformats.org/drawingml/2006/main">
              <a:ext uri="{FF2B5EF4-FFF2-40B4-BE49-F238E27FC236}">
                <a16:creationId xmlns:a16="http://schemas.microsoft.com/office/drawing/2014/main" id="{68D7CE69-5B6C-40CB-B364-81214BF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28975"/>
            <a:ext cx="628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EDCC7-8FCF-4ACD-9647-10D3705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28975"/>
            <a:ext cx="114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B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D861C-6BC2-48B7-9F9E-6C60908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cloudfunctions/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94F45-B26A-4B35-895D-394777B2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业务规则与云端接口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039CC-34BE-422E-A0BB-CB7D6C9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部署至 CloudBase</a:t>
            </a:r>
          </a:p>
        </p:txBody>
      </p:sp>
      <p:sp>
        <p:nvSpPr>
          <p:cNvPr id="17" name="artifact-3">
            <a:extLst xmlns:a="http://schemas.openxmlformats.org/drawingml/2006/main">
              <a:ext uri="{FF2B5EF4-FFF2-40B4-BE49-F238E27FC236}">
                <a16:creationId xmlns:a16="http://schemas.microsoft.com/office/drawing/2014/main" id="{29177B71-FE63-43DC-ABEF-E4B226F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6286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C9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A572E-7C83-47B8-8BB1-1DA9D3EE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114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CD48F-77EB-493F-BDC9-568FEA46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291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admin/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6C69E-5102-4B83-9770-7295DCB5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673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数据查看与日常维护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94CE1-9199-440D-9F57-730E858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967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A5B00"/>
                </a:solidFill>
                <a:latin typeface="Noto Sans SC"/>
                <a:ea typeface="Noto Sans SC"/>
                <a:cs typeface="Noto Sans SC"/>
              </a:rPr>
              <a:t>仅本地运行，不部署云端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BE359-3C81-4303-BF3D-CADF4963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52646D"/>
                </a:solidFill>
                <a:latin typeface="Noto Sans SC"/>
                <a:ea typeface="Noto Sans SC"/>
                <a:cs typeface="Noto Sans SC"/>
              </a:rPr>
              <a:t>管理端只承担低频查看与维护，因此保留在本地即可，避免增加部署、域名和长期运维成本。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61986-E2D7-4872-9E0B-81FC2E7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8753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A282D-7277-4234-8CE5-9368B6C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交付前检查清单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A65E3-B742-4650-9D1A-A627B1B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500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确认这些条件后，极速版才真正具备演示、测试与后续迭代基础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3496F-C21A-4659-9951-2C0536E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C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E045D-43E2-413A-BAD4-B2823D2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D4C8E-9ABF-4150-BCDC-1C08DF92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240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主体、名称、服务类目与实际业务一致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50BDD-BD0D-4C01-862E-D56AFB8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2B358-072D-4242-AC01-25C30259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备案与认证状态已确认，审核时间单独安排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D5385-68B6-4319-8B54-96A6E9D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EEE0F-A7F9-4482-B0C9-A70140A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云环境、数据库权限与环境变量配置完成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F99B6-6D1D-4C8A-ADAC-49A03FB1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60319-E26B-4DD4-8257-642BBF0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小程序、云函数、管理端归入同一总项目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70E20-E375-413F-A04A-A23FB3E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FC05F-B3C4-4B52-A4E2-04F3796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管理端可在本地启动，且不依赖云端部署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8D6C7-8C54-4E09-BC92-3676EA82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EE428-8A91-4578-BC44-726F5E0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真机完成核心流程、异常场景与权限测试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8B3DB-BFBE-4286-A441-E88D7EC4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037EB-FBA3-46BC-8E9E-983E7037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敏感配置未写入代码，测试数据可清理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72A92-E034-4257-9D53-8A75E96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8"/>
          </a:solidFill>
          <a:ln xmlns:a="http://schemas.openxmlformats.org/drawingml/2006/main" w="19050">
            <a:solidFill>
              <a:srgbClr val="07C16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7964D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A0B60-195B-4DE4-B2C5-D553A03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2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defRPr>
            </a:pPr>
            <a:r>
              <a:rPr sz="1575">
                <a:solidFill>
                  <a:srgbClr val="071B2B"/>
                </a:solidFill>
                <a:latin typeface="Noto Sans SC"/>
                <a:ea typeface="Noto Sans SC"/>
                <a:cs typeface="Noto Sans SC"/>
              </a:rPr>
              <a:t>套餐额度、续期时间与升级预算有记录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3D59C-16BB-40EB-ACDC-F5AE48A1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420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10B64-7CE9-4296-BC22-9C0A725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435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3EDAE"/>
                </a:solidFill>
                <a:latin typeface="Noto Sans SC"/>
                <a:ea typeface="Noto Sans SC"/>
                <a:cs typeface="Noto Sans SC"/>
              </a:rPr>
              <a:t>最终目标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09785-4A6D-4D0D-942B-063CB810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245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一天完成可验证的 MVP，并为备案审核、正式上线和持续迭代留下清晰路径。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654C7-AC63-4249-BEAF-40E113ED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1838A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7983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2026-10-13T00:32:28.1500000Z</dcterms:created>
  <dcterms:modified xsi:type="dcterms:W3CDTF">2026-10-13T00:32:28.1510000Z</dcterms:modified>
</coreProperties>
</file>